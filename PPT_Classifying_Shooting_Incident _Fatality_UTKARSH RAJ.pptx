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grandir Bold" charset="1" panose="00000800000000000000"/>
      <p:regular r:id="rId22"/>
    </p:embeddedFont>
    <p:embeddedFont>
      <p:font typeface="Quicksand Bold" charset="1" panose="00000000000000000000"/>
      <p:regular r:id="rId23"/>
    </p:embeddedFont>
    <p:embeddedFont>
      <p:font typeface="Open Sans Bold" charset="1" panose="020B0806030504020204"/>
      <p:regular r:id="rId24"/>
    </p:embeddedFont>
    <p:embeddedFont>
      <p:font typeface="Open Sans" charset="1" panose="020B06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D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66405" y="7422290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99053" y="-637047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454239" y="6638823"/>
            <a:ext cx="2805061" cy="2805061"/>
            <a:chOff x="0" y="0"/>
            <a:chExt cx="903111" cy="903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3111" cy="903111"/>
            </a:xfrm>
            <a:custGeom>
              <a:avLst/>
              <a:gdLst/>
              <a:ahLst/>
              <a:cxnLst/>
              <a:rect r="r" b="b" t="t" l="l"/>
              <a:pathLst>
                <a:path h="903111" w="903111">
                  <a:moveTo>
                    <a:pt x="0" y="0"/>
                  </a:moveTo>
                  <a:lnTo>
                    <a:pt x="903111" y="0"/>
                  </a:lnTo>
                  <a:lnTo>
                    <a:pt x="903111" y="903111"/>
                  </a:lnTo>
                  <a:lnTo>
                    <a:pt x="0" y="903111"/>
                  </a:lnTo>
                  <a:close/>
                </a:path>
              </a:pathLst>
            </a:custGeom>
            <a:solidFill>
              <a:srgbClr val="F26D3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903111" cy="865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91339" y="6638823"/>
            <a:ext cx="2757838" cy="2805061"/>
          </a:xfrm>
          <a:custGeom>
            <a:avLst/>
            <a:gdLst/>
            <a:ahLst/>
            <a:cxnLst/>
            <a:rect r="r" b="b" t="t" l="l"/>
            <a:pathLst>
              <a:path h="2805061" w="2757838">
                <a:moveTo>
                  <a:pt x="0" y="0"/>
                </a:moveTo>
                <a:lnTo>
                  <a:pt x="2757838" y="0"/>
                </a:lnTo>
                <a:lnTo>
                  <a:pt x="2757838" y="2805061"/>
                </a:lnTo>
                <a:lnTo>
                  <a:pt x="0" y="2805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432428" y="7617013"/>
            <a:ext cx="848682" cy="84868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49177" y="1028700"/>
            <a:ext cx="5610123" cy="5610123"/>
            <a:chOff x="0" y="0"/>
            <a:chExt cx="3331210" cy="3331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0" y="3331210"/>
                  </a:lnTo>
                  <a:cubicBezTo>
                    <a:pt x="0" y="149098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6"/>
              <a:stretch>
                <a:fillRect l="-24906" t="0" r="-24906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1860797"/>
            <a:ext cx="9439790" cy="362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78"/>
              </a:lnSpc>
            </a:pPr>
            <a:r>
              <a:rPr lang="en-US" b="true" sz="6983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Classifying Shooting Incident Fatality in NYC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646058"/>
            <a:ext cx="943979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9"/>
              </a:lnSpc>
              <a:spcBef>
                <a:spcPct val="0"/>
              </a:spcBef>
            </a:pPr>
            <a:r>
              <a:rPr lang="en-US" b="true" sz="2791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</a:t>
            </a:r>
            <a:r>
              <a:rPr lang="en-US" b="true" sz="2791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redictive Policing with Machine Learning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677" y="7822279"/>
            <a:ext cx="50053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9"/>
              </a:lnSpc>
              <a:spcBef>
                <a:spcPct val="0"/>
              </a:spcBef>
            </a:pPr>
            <a:r>
              <a:rPr lang="en-US" b="true" sz="2791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</a:t>
            </a:r>
            <a:r>
              <a:rPr lang="en-US" b="true" sz="2791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resented By: Utkarsh Raj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54625" y="-4532822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085" y="3223438"/>
            <a:ext cx="8778696" cy="5730957"/>
          </a:xfrm>
          <a:custGeom>
            <a:avLst/>
            <a:gdLst/>
            <a:ahLst/>
            <a:cxnLst/>
            <a:rect r="r" b="b" t="t" l="l"/>
            <a:pathLst>
              <a:path h="5730957" w="8778696">
                <a:moveTo>
                  <a:pt x="0" y="0"/>
                </a:moveTo>
                <a:lnTo>
                  <a:pt x="8778696" y="0"/>
                </a:lnTo>
                <a:lnTo>
                  <a:pt x="8778696" y="5730956"/>
                </a:lnTo>
                <a:lnTo>
                  <a:pt x="0" y="5730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589" r="0" b="-1154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06389" y="2953644"/>
            <a:ext cx="6296472" cy="600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865" indent="-253932" lvl="1">
              <a:lnSpc>
                <a:spcPts val="2822"/>
              </a:lnSpc>
              <a:buFont typeface="Arial"/>
              <a:buChar char="•"/>
            </a:pPr>
            <a:r>
              <a:rPr lang="en-US" b="true" sz="2352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changing landscape of public safety is affected by technology and new forms of municipalities.There is a growing expectation for police departments to provide data-supported results in their decision-making.</a:t>
            </a:r>
          </a:p>
          <a:p>
            <a:pPr algn="l">
              <a:lnSpc>
                <a:spcPts val="2822"/>
              </a:lnSpc>
            </a:pPr>
          </a:p>
          <a:p>
            <a:pPr algn="l" marL="507865" indent="-253932" lvl="1">
              <a:lnSpc>
                <a:spcPts val="2822"/>
              </a:lnSpc>
              <a:buFont typeface="Arial"/>
              <a:buChar char="•"/>
            </a:pPr>
            <a:r>
              <a:rPr lang="en-US" b="true" sz="2352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Every loss of life in a shooting event, creates damage to public safety, community trust, and the responsible allocation of police resources.</a:t>
            </a:r>
          </a:p>
          <a:p>
            <a:pPr algn="l">
              <a:lnSpc>
                <a:spcPts val="2822"/>
              </a:lnSpc>
            </a:pPr>
          </a:p>
          <a:p>
            <a:pPr algn="l" marL="507865" indent="-253932" lvl="1">
              <a:lnSpc>
                <a:spcPts val="2822"/>
              </a:lnSpc>
              <a:buFont typeface="Arial"/>
              <a:buChar char="•"/>
            </a:pPr>
            <a:r>
              <a:rPr lang="en-US" b="true" sz="2352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Machine Learning is a predictive methodology that also detects, monitors, and potentially mitigates risk related to shooting events.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2085" y="847725"/>
            <a:ext cx="11043207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96"/>
              </a:lnSpc>
              <a:spcBef>
                <a:spcPct val="0"/>
              </a:spcBef>
            </a:pPr>
            <a:r>
              <a:rPr lang="en-US" b="true" sz="6496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Enhancin</a:t>
            </a:r>
            <a:r>
              <a:rPr lang="en-US" b="true" sz="6496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g Public Safety Through Innovation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54625" y="-4532822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08407" y="-51435"/>
            <a:ext cx="13853160" cy="10389870"/>
            <a:chOff x="0" y="0"/>
            <a:chExt cx="81280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4"/>
              <a:stretch>
                <a:fillRect l="-16747" t="0" r="-1674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531754" y="2635407"/>
            <a:ext cx="9516731" cy="5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Proactive Public Safety: Allows earlier exposure to high-risk incidents allowing for timely intervention and improved overall community safety. </a:t>
            </a:r>
          </a:p>
          <a:p>
            <a:pPr algn="l" marL="647703" indent="-32385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Effective Resource &amp; Risk Use: Provides police resources with efficiency and reduces risk for operational decisions while utilizing data driven decision-making processes. </a:t>
            </a:r>
          </a:p>
          <a:p>
            <a:pPr algn="l" marL="647703" indent="-32385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Increased Community Trust: Develops long-term public confidence by exemplifying commitment to safety, transparency, and directed action.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5278" y="819150"/>
            <a:ext cx="11043207" cy="133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76"/>
              </a:lnSpc>
              <a:spcBef>
                <a:spcPct val="0"/>
              </a:spcBef>
            </a:pPr>
            <a:r>
              <a:rPr lang="en-US" b="true" sz="7396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</a:t>
            </a:r>
            <a:r>
              <a:rPr lang="en-US" b="true" sz="7396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ess Impact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D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10625" y="7369387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8852" y="4952209"/>
            <a:ext cx="9669682" cy="4821650"/>
          </a:xfrm>
          <a:custGeom>
            <a:avLst/>
            <a:gdLst/>
            <a:ahLst/>
            <a:cxnLst/>
            <a:rect r="r" b="b" t="t" l="l"/>
            <a:pathLst>
              <a:path h="4821650" w="9669682">
                <a:moveTo>
                  <a:pt x="0" y="0"/>
                </a:moveTo>
                <a:lnTo>
                  <a:pt x="9669683" y="0"/>
                </a:lnTo>
                <a:lnTo>
                  <a:pt x="9669683" y="4821650"/>
                </a:lnTo>
                <a:lnTo>
                  <a:pt x="0" y="4821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427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41517" y="2318500"/>
            <a:ext cx="6414324" cy="7224280"/>
          </a:xfrm>
          <a:custGeom>
            <a:avLst/>
            <a:gdLst/>
            <a:ahLst/>
            <a:cxnLst/>
            <a:rect r="r" b="b" t="t" l="l"/>
            <a:pathLst>
              <a:path h="7224280" w="6414324">
                <a:moveTo>
                  <a:pt x="0" y="0"/>
                </a:moveTo>
                <a:lnTo>
                  <a:pt x="6414324" y="0"/>
                </a:lnTo>
                <a:lnTo>
                  <a:pt x="6414324" y="7224279"/>
                </a:lnTo>
                <a:lnTo>
                  <a:pt x="0" y="7224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34893" y="819150"/>
            <a:ext cx="14218214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79"/>
              </a:lnSpc>
            </a:pPr>
            <a:r>
              <a:rPr lang="en-US" b="true" sz="7399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18500"/>
            <a:ext cx="10713867" cy="394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3479"/>
              </a:lnSpc>
              <a:buFont typeface="Arial"/>
              <a:buChar char="•"/>
            </a:pPr>
            <a:r>
              <a:rPr lang="en-US" b="true" sz="2899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</a:t>
            </a:r>
            <a:r>
              <a:rPr lang="en-US" b="true" sz="2899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ource: NYPD Shooting Incident Data</a:t>
            </a:r>
          </a:p>
          <a:p>
            <a:pPr algn="l" marL="626109" indent="-313054" lvl="1">
              <a:lnSpc>
                <a:spcPts val="3479"/>
              </a:lnSpc>
              <a:buFont typeface="Arial"/>
              <a:buChar char="•"/>
            </a:pPr>
            <a:r>
              <a:rPr lang="en-US" b="true" sz="2899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Total Records: 27,312</a:t>
            </a:r>
          </a:p>
          <a:p>
            <a:pPr algn="l" marL="626109" indent="-313054" lvl="1">
              <a:lnSpc>
                <a:spcPts val="3479"/>
              </a:lnSpc>
              <a:buFont typeface="Arial"/>
              <a:buChar char="•"/>
            </a:pPr>
            <a:r>
              <a:rPr lang="en-US" b="true" sz="2899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Features: 20+</a:t>
            </a:r>
          </a:p>
          <a:p>
            <a:pPr algn="l" marL="626109" indent="-313054" lvl="1">
              <a:lnSpc>
                <a:spcPts val="3479"/>
              </a:lnSpc>
              <a:buFont typeface="Arial"/>
              <a:buChar char="•"/>
            </a:pPr>
            <a:r>
              <a:rPr lang="en-US" b="true" sz="2899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Key Data Points:</a:t>
            </a:r>
          </a:p>
          <a:p>
            <a:pPr algn="l" marL="1252218" indent="-417406" lvl="2">
              <a:lnSpc>
                <a:spcPts val="3479"/>
              </a:lnSpc>
              <a:buFont typeface="Arial"/>
              <a:buChar char="⚬"/>
            </a:pPr>
            <a:r>
              <a:rPr lang="en-US" b="true" sz="2899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Borough, Precinct, Time, Victim/Perpetrator Demographics, Location Details, Fatality Flag</a:t>
            </a:r>
          </a:p>
          <a:p>
            <a:pPr algn="l" marL="626109" indent="-313054" lvl="1">
              <a:lnSpc>
                <a:spcPts val="3479"/>
              </a:lnSpc>
              <a:buFont typeface="Arial"/>
              <a:buChar char="•"/>
            </a:pPr>
            <a:r>
              <a:rPr lang="en-US" b="true" sz="2899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Contains </a:t>
            </a:r>
            <a:r>
              <a:rPr lang="en-US" b="true" sz="2899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Missing Values </a:t>
            </a:r>
          </a:p>
          <a:p>
            <a:pPr algn="l">
              <a:lnSpc>
                <a:spcPts val="3479"/>
              </a:lnSpc>
            </a:pPr>
          </a:p>
          <a:p>
            <a:pPr algn="l" marL="0" indent="0" lvl="0">
              <a:lnSpc>
                <a:spcPts val="34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54858" y="4739236"/>
            <a:ext cx="1693314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255146" y="-4733375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71525"/>
            <a:ext cx="16230600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b="true" sz="8799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EDA Highlights and Insights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6122976"/>
            <a:ext cx="4107995" cy="1615727"/>
            <a:chOff x="0" y="0"/>
            <a:chExt cx="5477326" cy="215430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14300"/>
              <a:ext cx="5477326" cy="91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1F0F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Phase 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95394"/>
              <a:ext cx="5477326" cy="1258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70"/>
                </a:lnSpc>
                <a:spcBef>
                  <a:spcPct val="0"/>
                </a:spcBef>
              </a:pPr>
              <a:r>
                <a:rPr lang="en-US" b="true" sz="2764">
                  <a:solidFill>
                    <a:srgbClr val="F1F0FC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</a:t>
              </a:r>
              <a:r>
                <a:rPr lang="en-US" b="true" sz="2764">
                  <a:solidFill>
                    <a:srgbClr val="F1F0FC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Incident Distribution &amp; Imbalance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79989" y="6122976"/>
            <a:ext cx="4107995" cy="1615727"/>
            <a:chOff x="0" y="0"/>
            <a:chExt cx="5477326" cy="215430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14300"/>
              <a:ext cx="5477326" cy="91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1F0F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Phase 2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95394"/>
              <a:ext cx="5477326" cy="1258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70"/>
                </a:lnSpc>
                <a:spcBef>
                  <a:spcPct val="0"/>
                </a:spcBef>
              </a:pPr>
              <a:r>
                <a:rPr lang="en-US" b="true" sz="2764">
                  <a:solidFill>
                    <a:srgbClr val="F1F0FC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</a:t>
              </a:r>
              <a:r>
                <a:rPr lang="en-US" b="true" sz="2764">
                  <a:solidFill>
                    <a:srgbClr val="F1F0FC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emporal &amp; Demographic Insights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31277" y="6122976"/>
            <a:ext cx="4107995" cy="3073052"/>
            <a:chOff x="0" y="0"/>
            <a:chExt cx="5477326" cy="409740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14300"/>
              <a:ext cx="5477326" cy="91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1F0F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Phase 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95394"/>
              <a:ext cx="5477326" cy="3202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96962" indent="-298481" lvl="1">
                <a:lnSpc>
                  <a:spcPts val="387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764">
                  <a:solidFill>
                    <a:srgbClr val="F1F0FC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</a:t>
              </a:r>
              <a:r>
                <a:rPr lang="en-US" b="true" sz="2764">
                  <a:solidFill>
                    <a:srgbClr val="F1F0FC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orrelation Heatmap</a:t>
              </a:r>
            </a:p>
            <a:p>
              <a:pPr algn="l" marL="596962" indent="-298481" lvl="1">
                <a:lnSpc>
                  <a:spcPts val="387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764">
                  <a:solidFill>
                    <a:srgbClr val="F1F0FC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Geo Clustering (Region_ID)</a:t>
              </a:r>
            </a:p>
            <a:p>
              <a:pPr algn="l" marL="0" indent="0" lvl="0">
                <a:lnSpc>
                  <a:spcPts val="387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1199428" y="4215367"/>
            <a:ext cx="706282" cy="1047739"/>
          </a:xfrm>
          <a:custGeom>
            <a:avLst/>
            <a:gdLst/>
            <a:ahLst/>
            <a:cxnLst/>
            <a:rect r="r" b="b" t="t" l="l"/>
            <a:pathLst>
              <a:path h="1047739" w="706282">
                <a:moveTo>
                  <a:pt x="0" y="0"/>
                </a:moveTo>
                <a:lnTo>
                  <a:pt x="706282" y="0"/>
                </a:lnTo>
                <a:lnTo>
                  <a:pt x="706282" y="1047738"/>
                </a:lnTo>
                <a:lnTo>
                  <a:pt x="0" y="1047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7050717" y="4215367"/>
            <a:ext cx="706282" cy="1047739"/>
          </a:xfrm>
          <a:custGeom>
            <a:avLst/>
            <a:gdLst/>
            <a:ahLst/>
            <a:cxnLst/>
            <a:rect r="r" b="b" t="t" l="l"/>
            <a:pathLst>
              <a:path h="1047739" w="706282">
                <a:moveTo>
                  <a:pt x="0" y="0"/>
                </a:moveTo>
                <a:lnTo>
                  <a:pt x="706282" y="0"/>
                </a:lnTo>
                <a:lnTo>
                  <a:pt x="706282" y="1047738"/>
                </a:lnTo>
                <a:lnTo>
                  <a:pt x="0" y="1047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2902005" y="4215367"/>
            <a:ext cx="706282" cy="1047739"/>
          </a:xfrm>
          <a:custGeom>
            <a:avLst/>
            <a:gdLst/>
            <a:ahLst/>
            <a:cxnLst/>
            <a:rect r="r" b="b" t="t" l="l"/>
            <a:pathLst>
              <a:path h="1047739" w="706282">
                <a:moveTo>
                  <a:pt x="0" y="0"/>
                </a:moveTo>
                <a:lnTo>
                  <a:pt x="706283" y="0"/>
                </a:lnTo>
                <a:lnTo>
                  <a:pt x="706283" y="1047738"/>
                </a:lnTo>
                <a:lnTo>
                  <a:pt x="0" y="1047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341232" y="9258300"/>
            <a:ext cx="18967729" cy="1435037"/>
            <a:chOff x="0" y="0"/>
            <a:chExt cx="4995616" cy="3779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95616" cy="377952"/>
            </a:xfrm>
            <a:custGeom>
              <a:avLst/>
              <a:gdLst/>
              <a:ahLst/>
              <a:cxnLst/>
              <a:rect r="r" b="b" t="t" l="l"/>
              <a:pathLst>
                <a:path h="377952" w="4995616">
                  <a:moveTo>
                    <a:pt x="0" y="0"/>
                  </a:moveTo>
                  <a:lnTo>
                    <a:pt x="4995616" y="0"/>
                  </a:lnTo>
                  <a:lnTo>
                    <a:pt x="4995616" y="377952"/>
                  </a:lnTo>
                  <a:lnTo>
                    <a:pt x="0" y="377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38100"/>
              <a:ext cx="4995616" cy="339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6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D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66405" y="713943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82333" y="-631918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52741" y="2176870"/>
            <a:ext cx="6451653" cy="7609520"/>
            <a:chOff x="0" y="0"/>
            <a:chExt cx="1269404" cy="14972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9404" cy="1497222"/>
            </a:xfrm>
            <a:custGeom>
              <a:avLst/>
              <a:gdLst/>
              <a:ahLst/>
              <a:cxnLst/>
              <a:rect r="r" b="b" t="t" l="l"/>
              <a:pathLst>
                <a:path h="1497222" w="1269404">
                  <a:moveTo>
                    <a:pt x="0" y="0"/>
                  </a:moveTo>
                  <a:lnTo>
                    <a:pt x="1269404" y="0"/>
                  </a:lnTo>
                  <a:lnTo>
                    <a:pt x="1269404" y="1497222"/>
                  </a:lnTo>
                  <a:lnTo>
                    <a:pt x="0" y="14972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0"/>
              <a:ext cx="1269404" cy="1401972"/>
            </a:xfrm>
            <a:prstGeom prst="rect">
              <a:avLst/>
            </a:prstGeom>
          </p:spPr>
          <p:txBody>
            <a:bodyPr anchor="ctr" rtlCol="false" tIns="373623" lIns="373623" bIns="373623" rIns="373623"/>
            <a:lstStyle/>
            <a:p>
              <a:pPr algn="ctr">
                <a:lnSpc>
                  <a:spcPts val="545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883606" y="2176870"/>
            <a:ext cx="6451653" cy="7609520"/>
            <a:chOff x="0" y="0"/>
            <a:chExt cx="1269404" cy="1497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9404" cy="1497222"/>
            </a:xfrm>
            <a:custGeom>
              <a:avLst/>
              <a:gdLst/>
              <a:ahLst/>
              <a:cxnLst/>
              <a:rect r="r" b="b" t="t" l="l"/>
              <a:pathLst>
                <a:path h="1497222" w="1269404">
                  <a:moveTo>
                    <a:pt x="0" y="0"/>
                  </a:moveTo>
                  <a:lnTo>
                    <a:pt x="1269404" y="0"/>
                  </a:lnTo>
                  <a:lnTo>
                    <a:pt x="1269404" y="1497222"/>
                  </a:lnTo>
                  <a:lnTo>
                    <a:pt x="0" y="14972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69404" cy="1554372"/>
            </a:xfrm>
            <a:prstGeom prst="rect">
              <a:avLst/>
            </a:prstGeom>
          </p:spPr>
          <p:txBody>
            <a:bodyPr anchor="ctr" rtlCol="false" tIns="373623" lIns="373623" bIns="373623" rIns="373623"/>
            <a:lstStyle/>
            <a:p>
              <a:pPr algn="ctr">
                <a:lnSpc>
                  <a:spcPts val="545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952741" y="2176870"/>
            <a:ext cx="6451653" cy="4846804"/>
          </a:xfrm>
          <a:custGeom>
            <a:avLst/>
            <a:gdLst/>
            <a:ahLst/>
            <a:cxnLst/>
            <a:rect r="r" b="b" t="t" l="l"/>
            <a:pathLst>
              <a:path h="4846804" w="6451653">
                <a:moveTo>
                  <a:pt x="0" y="0"/>
                </a:moveTo>
                <a:lnTo>
                  <a:pt x="6451653" y="0"/>
                </a:lnTo>
                <a:lnTo>
                  <a:pt x="6451653" y="4846804"/>
                </a:lnTo>
                <a:lnTo>
                  <a:pt x="0" y="4846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883606" y="2176870"/>
            <a:ext cx="6451653" cy="4532286"/>
          </a:xfrm>
          <a:custGeom>
            <a:avLst/>
            <a:gdLst/>
            <a:ahLst/>
            <a:cxnLst/>
            <a:rect r="r" b="b" t="t" l="l"/>
            <a:pathLst>
              <a:path h="4532286" w="6451653">
                <a:moveTo>
                  <a:pt x="0" y="0"/>
                </a:moveTo>
                <a:lnTo>
                  <a:pt x="6451653" y="0"/>
                </a:lnTo>
                <a:lnTo>
                  <a:pt x="6451653" y="4532286"/>
                </a:lnTo>
                <a:lnTo>
                  <a:pt x="0" y="45322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62122" y="838200"/>
            <a:ext cx="14163756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 Incident Distribution &amp; Imbalance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3606" y="7023674"/>
            <a:ext cx="6046197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752" indent="-308876" lvl="1">
              <a:lnSpc>
                <a:spcPts val="3433"/>
              </a:lnSpc>
              <a:buFont typeface="Arial"/>
              <a:buChar char="•"/>
            </a:pP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Brooklyn and Bronx</a:t>
            </a: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report the highest number of both total and fatal incidents.</a:t>
            </a:r>
          </a:p>
          <a:p>
            <a:pPr algn="l" marL="617752" indent="-308876" lvl="1">
              <a:lnSpc>
                <a:spcPts val="3433"/>
              </a:lnSpc>
              <a:buFont typeface="Arial"/>
              <a:buChar char="•"/>
            </a:pP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Suggests targeted intervention and policing strategies in these regions.</a:t>
            </a:r>
          </a:p>
          <a:p>
            <a:pPr algn="l" marL="0" indent="0" lvl="0">
              <a:lnSpc>
                <a:spcPts val="343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661945" y="7312534"/>
            <a:ext cx="503324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3"/>
              </a:lnSpc>
            </a:pP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 dataset is heavily imbalanced: ~81% non-fatal vs ~19% fatal incidents.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D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78955" y="8788909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49"/>
                </a:lnTo>
                <a:lnTo>
                  <a:pt x="0" y="9466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82333" y="-631918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24831" y="2207164"/>
            <a:ext cx="10683540" cy="7609520"/>
            <a:chOff x="0" y="0"/>
            <a:chExt cx="2102055" cy="14972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2055" cy="1497222"/>
            </a:xfrm>
            <a:custGeom>
              <a:avLst/>
              <a:gdLst/>
              <a:ahLst/>
              <a:cxnLst/>
              <a:rect r="r" b="b" t="t" l="l"/>
              <a:pathLst>
                <a:path h="1497222" w="2102055">
                  <a:moveTo>
                    <a:pt x="0" y="0"/>
                  </a:moveTo>
                  <a:lnTo>
                    <a:pt x="2102055" y="0"/>
                  </a:lnTo>
                  <a:lnTo>
                    <a:pt x="2102055" y="1497222"/>
                  </a:lnTo>
                  <a:lnTo>
                    <a:pt x="0" y="14972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02055" cy="1554372"/>
            </a:xfrm>
            <a:prstGeom prst="rect">
              <a:avLst/>
            </a:prstGeom>
          </p:spPr>
          <p:txBody>
            <a:bodyPr anchor="ctr" rtlCol="false" tIns="373623" lIns="373623" bIns="373623" rIns="373623"/>
            <a:lstStyle/>
            <a:p>
              <a:pPr algn="ctr">
                <a:lnSpc>
                  <a:spcPts val="545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63909" y="2176870"/>
            <a:ext cx="6342272" cy="7609520"/>
            <a:chOff x="0" y="0"/>
            <a:chExt cx="1247883" cy="1497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7883" cy="1497222"/>
            </a:xfrm>
            <a:custGeom>
              <a:avLst/>
              <a:gdLst/>
              <a:ahLst/>
              <a:cxnLst/>
              <a:rect r="r" b="b" t="t" l="l"/>
              <a:pathLst>
                <a:path h="1497222" w="1247883">
                  <a:moveTo>
                    <a:pt x="0" y="0"/>
                  </a:moveTo>
                  <a:lnTo>
                    <a:pt x="1247883" y="0"/>
                  </a:lnTo>
                  <a:lnTo>
                    <a:pt x="1247883" y="1497222"/>
                  </a:lnTo>
                  <a:lnTo>
                    <a:pt x="0" y="14972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1247883" cy="1401972"/>
            </a:xfrm>
            <a:prstGeom prst="rect">
              <a:avLst/>
            </a:prstGeom>
          </p:spPr>
          <p:txBody>
            <a:bodyPr anchor="ctr" rtlCol="false" tIns="373623" lIns="373623" bIns="373623" rIns="373623"/>
            <a:lstStyle/>
            <a:p>
              <a:pPr algn="ctr">
                <a:lnSpc>
                  <a:spcPts val="545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63909" y="2207164"/>
            <a:ext cx="6342272" cy="4024218"/>
          </a:xfrm>
          <a:custGeom>
            <a:avLst/>
            <a:gdLst/>
            <a:ahLst/>
            <a:cxnLst/>
            <a:rect r="r" b="b" t="t" l="l"/>
            <a:pathLst>
              <a:path h="4024218" w="6342272">
                <a:moveTo>
                  <a:pt x="0" y="0"/>
                </a:moveTo>
                <a:lnTo>
                  <a:pt x="6342272" y="0"/>
                </a:lnTo>
                <a:lnTo>
                  <a:pt x="6342272" y="4024219"/>
                </a:lnTo>
                <a:lnTo>
                  <a:pt x="0" y="4024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2" t="0" r="-86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060355" y="2207164"/>
            <a:ext cx="5185106" cy="4421730"/>
          </a:xfrm>
          <a:custGeom>
            <a:avLst/>
            <a:gdLst/>
            <a:ahLst/>
            <a:cxnLst/>
            <a:rect r="r" b="b" t="t" l="l"/>
            <a:pathLst>
              <a:path h="4421730" w="5185106">
                <a:moveTo>
                  <a:pt x="0" y="0"/>
                </a:moveTo>
                <a:lnTo>
                  <a:pt x="5185106" y="0"/>
                </a:lnTo>
                <a:lnTo>
                  <a:pt x="5185106" y="4421730"/>
                </a:lnTo>
                <a:lnTo>
                  <a:pt x="0" y="4421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1869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66601" y="2249815"/>
            <a:ext cx="5341770" cy="4301990"/>
          </a:xfrm>
          <a:custGeom>
            <a:avLst/>
            <a:gdLst/>
            <a:ahLst/>
            <a:cxnLst/>
            <a:rect r="r" b="b" t="t" l="l"/>
            <a:pathLst>
              <a:path h="4301990" w="5341770">
                <a:moveTo>
                  <a:pt x="0" y="0"/>
                </a:moveTo>
                <a:lnTo>
                  <a:pt x="5341770" y="0"/>
                </a:lnTo>
                <a:lnTo>
                  <a:pt x="5341770" y="4301990"/>
                </a:lnTo>
                <a:lnTo>
                  <a:pt x="0" y="43019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62122" y="342900"/>
            <a:ext cx="14163756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Temporal</a:t>
            </a: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 &amp; Demographic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2562" y="7023674"/>
            <a:ext cx="8387241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752" indent="-308876" lvl="1">
              <a:lnSpc>
                <a:spcPts val="3433"/>
              </a:lnSpc>
              <a:buFont typeface="Arial"/>
              <a:buChar char="•"/>
            </a:pP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Certain racial groups</a:t>
            </a: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appear more frequently in both perpetrator and victim roles.</a:t>
            </a:r>
          </a:p>
          <a:p>
            <a:pPr algn="l" marL="617752" indent="-308876" lvl="1">
              <a:lnSpc>
                <a:spcPts val="3433"/>
              </a:lnSpc>
              <a:buFont typeface="Arial"/>
              <a:buChar char="•"/>
            </a:pP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Chi-</a:t>
            </a: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square tests confirm a statistically significant relationship with fatality outcomes.</a:t>
            </a:r>
          </a:p>
          <a:p>
            <a:pPr algn="l" marL="0" indent="0" lvl="0">
              <a:lnSpc>
                <a:spcPts val="343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78418" y="6166424"/>
            <a:ext cx="4947912" cy="385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752" indent="-308876" lvl="1">
              <a:lnSpc>
                <a:spcPts val="3433"/>
              </a:lnSpc>
              <a:buFont typeface="Arial"/>
              <a:buChar char="•"/>
            </a:pP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</a:t>
            </a: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atal shootings spike between 10 PM and 3 AM, aligning with high-risk time windows.</a:t>
            </a:r>
          </a:p>
          <a:p>
            <a:pPr algn="l" marL="617752" indent="-308876" lvl="1">
              <a:lnSpc>
                <a:spcPts val="3433"/>
              </a:lnSpc>
              <a:buFont typeface="Arial"/>
              <a:buChar char="•"/>
            </a:pPr>
            <a:r>
              <a:rPr lang="en-US" b="true" sz="28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Implies the need for increased patrol presence during late-night hours.</a:t>
            </a:r>
          </a:p>
          <a:p>
            <a:pPr algn="l" marL="0" indent="0" lvl="0">
              <a:lnSpc>
                <a:spcPts val="343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D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66405" y="713943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82333" y="-631918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853835"/>
            <a:ext cx="7554645" cy="7902150"/>
            <a:chOff x="0" y="0"/>
            <a:chExt cx="1486425" cy="1554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6425" cy="1554799"/>
            </a:xfrm>
            <a:custGeom>
              <a:avLst/>
              <a:gdLst/>
              <a:ahLst/>
              <a:cxnLst/>
              <a:rect r="r" b="b" t="t" l="l"/>
              <a:pathLst>
                <a:path h="1554799" w="1486425">
                  <a:moveTo>
                    <a:pt x="0" y="0"/>
                  </a:moveTo>
                  <a:lnTo>
                    <a:pt x="1486425" y="0"/>
                  </a:lnTo>
                  <a:lnTo>
                    <a:pt x="1486425" y="1554799"/>
                  </a:lnTo>
                  <a:lnTo>
                    <a:pt x="0" y="15547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0"/>
              <a:ext cx="1486425" cy="1459549"/>
            </a:xfrm>
            <a:prstGeom prst="rect">
              <a:avLst/>
            </a:prstGeom>
          </p:spPr>
          <p:txBody>
            <a:bodyPr anchor="ctr" rtlCol="false" tIns="373623" lIns="373623" bIns="373623" rIns="373623"/>
            <a:lstStyle/>
            <a:p>
              <a:pPr algn="ctr">
                <a:lnSpc>
                  <a:spcPts val="545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1853835"/>
            <a:ext cx="7644685" cy="7902150"/>
            <a:chOff x="0" y="0"/>
            <a:chExt cx="1504141" cy="1554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4141" cy="1554799"/>
            </a:xfrm>
            <a:custGeom>
              <a:avLst/>
              <a:gdLst/>
              <a:ahLst/>
              <a:cxnLst/>
              <a:rect r="r" b="b" t="t" l="l"/>
              <a:pathLst>
                <a:path h="1554799" w="1504141">
                  <a:moveTo>
                    <a:pt x="0" y="0"/>
                  </a:moveTo>
                  <a:lnTo>
                    <a:pt x="1504141" y="0"/>
                  </a:lnTo>
                  <a:lnTo>
                    <a:pt x="1504141" y="1554799"/>
                  </a:lnTo>
                  <a:lnTo>
                    <a:pt x="0" y="15547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504141" cy="1611949"/>
            </a:xfrm>
            <a:prstGeom prst="rect">
              <a:avLst/>
            </a:prstGeom>
          </p:spPr>
          <p:txBody>
            <a:bodyPr anchor="ctr" rtlCol="false" tIns="373623" lIns="373623" bIns="373623" rIns="373623"/>
            <a:lstStyle/>
            <a:p>
              <a:pPr algn="ctr">
                <a:lnSpc>
                  <a:spcPts val="545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144000" y="1853835"/>
            <a:ext cx="7532079" cy="6024773"/>
          </a:xfrm>
          <a:custGeom>
            <a:avLst/>
            <a:gdLst/>
            <a:ahLst/>
            <a:cxnLst/>
            <a:rect r="r" b="b" t="t" l="l"/>
            <a:pathLst>
              <a:path h="6024773" w="7532079">
                <a:moveTo>
                  <a:pt x="0" y="0"/>
                </a:moveTo>
                <a:lnTo>
                  <a:pt x="7532079" y="0"/>
                </a:lnTo>
                <a:lnTo>
                  <a:pt x="7532079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22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6323" y="1853835"/>
            <a:ext cx="7136942" cy="5879627"/>
          </a:xfrm>
          <a:custGeom>
            <a:avLst/>
            <a:gdLst/>
            <a:ahLst/>
            <a:cxnLst/>
            <a:rect r="r" b="b" t="t" l="l"/>
            <a:pathLst>
              <a:path h="5879627" w="7136942">
                <a:moveTo>
                  <a:pt x="0" y="0"/>
                </a:moveTo>
                <a:lnTo>
                  <a:pt x="7136941" y="0"/>
                </a:lnTo>
                <a:lnTo>
                  <a:pt x="7136941" y="5879627"/>
                </a:lnTo>
                <a:lnTo>
                  <a:pt x="0" y="5879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150" t="-1762" r="-252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24070" y="397524"/>
            <a:ext cx="15852009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Correlation</a:t>
            </a:r>
            <a:r>
              <a:rPr lang="en-US" b="true" sz="60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 Heatmap &amp; Geo Clustering </a:t>
            </a:r>
          </a:p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346590" y="7783358"/>
            <a:ext cx="7329489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2984" indent="-276492" lvl="1">
              <a:lnSpc>
                <a:spcPts val="3073"/>
              </a:lnSpc>
              <a:buFont typeface="Arial"/>
              <a:buChar char="•"/>
            </a:pPr>
            <a:r>
              <a:rPr lang="en-US" b="true" sz="25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High-fatality hots</a:t>
            </a:r>
            <a:r>
              <a:rPr lang="en-US" b="true" sz="25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pots are identifiable in specific clusters.</a:t>
            </a:r>
          </a:p>
          <a:p>
            <a:pPr algn="l" marL="552984" indent="-276492" lvl="1">
              <a:lnSpc>
                <a:spcPts val="3073"/>
              </a:lnSpc>
              <a:buFont typeface="Arial"/>
              <a:buChar char="•"/>
            </a:pPr>
            <a:r>
              <a:rPr lang="en-US" b="true" sz="25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These </a:t>
            </a:r>
            <a:r>
              <a:rPr lang="en-US" b="true" sz="25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geographic zones can guide location-based predictive policing and patrolling strategies.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869083"/>
            <a:ext cx="7483752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215" indent="-244108" lvl="1">
              <a:lnSpc>
                <a:spcPts val="2713"/>
              </a:lnSpc>
              <a:buFont typeface="Arial"/>
              <a:buChar char="•"/>
            </a:pPr>
            <a:r>
              <a:rPr lang="en-US" b="true" sz="22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</a:t>
            </a:r>
            <a:r>
              <a:rPr lang="en-US" b="true" sz="22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eak linear correlations with the target variable (STATISTICAL_MURDER_FLAG).</a:t>
            </a:r>
          </a:p>
          <a:p>
            <a:pPr algn="l" marL="488215" indent="-244108" lvl="1">
              <a:lnSpc>
                <a:spcPts val="2713"/>
              </a:lnSpc>
              <a:buFont typeface="Arial"/>
              <a:buChar char="•"/>
            </a:pPr>
            <a:r>
              <a:rPr lang="en-US" b="true" sz="226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However, time (hour), region, and categorical variables still play critical roles in model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D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66405" y="713943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82333" y="-631918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22026" y="2926261"/>
            <a:ext cx="16737274" cy="6332039"/>
            <a:chOff x="0" y="0"/>
            <a:chExt cx="22316365" cy="84427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97559" cy="8442718"/>
            </a:xfrm>
            <a:custGeom>
              <a:avLst/>
              <a:gdLst/>
              <a:ahLst/>
              <a:cxnLst/>
              <a:rect r="r" b="b" t="t" l="l"/>
              <a:pathLst>
                <a:path h="8442718" w="18897559">
                  <a:moveTo>
                    <a:pt x="0" y="0"/>
                  </a:moveTo>
                  <a:lnTo>
                    <a:pt x="18897559" y="0"/>
                  </a:lnTo>
                  <a:lnTo>
                    <a:pt x="18897559" y="8442718"/>
                  </a:lnTo>
                  <a:lnTo>
                    <a:pt x="0" y="8442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989" r="0" b="-812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567307" y="295074"/>
              <a:ext cx="3749058" cy="8147645"/>
            </a:xfrm>
            <a:custGeom>
              <a:avLst/>
              <a:gdLst/>
              <a:ahLst/>
              <a:cxnLst/>
              <a:rect r="r" b="b" t="t" l="l"/>
              <a:pathLst>
                <a:path h="8147645" w="3749058">
                  <a:moveTo>
                    <a:pt x="0" y="0"/>
                  </a:moveTo>
                  <a:lnTo>
                    <a:pt x="3749058" y="0"/>
                  </a:lnTo>
                  <a:lnTo>
                    <a:pt x="3749058" y="8147644"/>
                  </a:lnTo>
                  <a:lnTo>
                    <a:pt x="0" y="8147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6472" t="-31447" r="-2576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592805" y="838200"/>
            <a:ext cx="11102391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Preproc</a:t>
            </a: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essing Strategy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33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66405" y="713943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0924" y="-6373381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291638" y="2385600"/>
            <a:ext cx="3847258" cy="6225972"/>
            <a:chOff x="0" y="0"/>
            <a:chExt cx="718977" cy="11635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8977" cy="1163512"/>
            </a:xfrm>
            <a:custGeom>
              <a:avLst/>
              <a:gdLst/>
              <a:ahLst/>
              <a:cxnLst/>
              <a:rect r="r" b="b" t="t" l="l"/>
              <a:pathLst>
                <a:path h="1163512" w="718977">
                  <a:moveTo>
                    <a:pt x="239788" y="19070"/>
                  </a:moveTo>
                  <a:cubicBezTo>
                    <a:pt x="276530" y="7556"/>
                    <a:pt x="318554" y="0"/>
                    <a:pt x="359682" y="0"/>
                  </a:cubicBezTo>
                  <a:cubicBezTo>
                    <a:pt x="400812" y="0"/>
                    <a:pt x="440388" y="6476"/>
                    <a:pt x="476860" y="17990"/>
                  </a:cubicBezTo>
                  <a:cubicBezTo>
                    <a:pt x="477637" y="18350"/>
                    <a:pt x="478413" y="18350"/>
                    <a:pt x="479188" y="18710"/>
                  </a:cubicBezTo>
                  <a:cubicBezTo>
                    <a:pt x="616155" y="64765"/>
                    <a:pt x="717037" y="186379"/>
                    <a:pt x="718977" y="336292"/>
                  </a:cubicBezTo>
                  <a:lnTo>
                    <a:pt x="718977" y="1163512"/>
                  </a:lnTo>
                  <a:lnTo>
                    <a:pt x="0" y="1163512"/>
                  </a:lnTo>
                  <a:lnTo>
                    <a:pt x="0" y="336906"/>
                  </a:lnTo>
                  <a:cubicBezTo>
                    <a:pt x="1940" y="185660"/>
                    <a:pt x="101270" y="64045"/>
                    <a:pt x="239788" y="190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65100"/>
              <a:ext cx="718977" cy="998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434170" y="2330889"/>
            <a:ext cx="3847258" cy="6685863"/>
            <a:chOff x="0" y="0"/>
            <a:chExt cx="718977" cy="12494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8977" cy="1249456"/>
            </a:xfrm>
            <a:custGeom>
              <a:avLst/>
              <a:gdLst/>
              <a:ahLst/>
              <a:cxnLst/>
              <a:rect r="r" b="b" t="t" l="l"/>
              <a:pathLst>
                <a:path h="1249456" w="718977">
                  <a:moveTo>
                    <a:pt x="239788" y="19070"/>
                  </a:moveTo>
                  <a:cubicBezTo>
                    <a:pt x="276530" y="7556"/>
                    <a:pt x="318554" y="0"/>
                    <a:pt x="359682" y="0"/>
                  </a:cubicBezTo>
                  <a:cubicBezTo>
                    <a:pt x="400812" y="0"/>
                    <a:pt x="440388" y="6476"/>
                    <a:pt x="476860" y="17990"/>
                  </a:cubicBezTo>
                  <a:cubicBezTo>
                    <a:pt x="477637" y="18350"/>
                    <a:pt x="478413" y="18350"/>
                    <a:pt x="479188" y="18710"/>
                  </a:cubicBezTo>
                  <a:cubicBezTo>
                    <a:pt x="616155" y="64765"/>
                    <a:pt x="717037" y="186379"/>
                    <a:pt x="718977" y="338201"/>
                  </a:cubicBezTo>
                  <a:lnTo>
                    <a:pt x="718977" y="1249456"/>
                  </a:lnTo>
                  <a:lnTo>
                    <a:pt x="0" y="1249456"/>
                  </a:lnTo>
                  <a:lnTo>
                    <a:pt x="0" y="338878"/>
                  </a:lnTo>
                  <a:cubicBezTo>
                    <a:pt x="1940" y="185660"/>
                    <a:pt x="101270" y="64045"/>
                    <a:pt x="239788" y="19070"/>
                  </a:cubicBezTo>
                  <a:close/>
                </a:path>
              </a:pathLst>
            </a:custGeom>
            <a:solidFill>
              <a:srgbClr val="F26D3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65100"/>
              <a:ext cx="718977" cy="1084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783645" y="3020353"/>
            <a:ext cx="862843" cy="862843"/>
          </a:xfrm>
          <a:custGeom>
            <a:avLst/>
            <a:gdLst/>
            <a:ahLst/>
            <a:cxnLst/>
            <a:rect r="r" b="b" t="t" l="l"/>
            <a:pathLst>
              <a:path h="862843" w="862843">
                <a:moveTo>
                  <a:pt x="0" y="0"/>
                </a:moveTo>
                <a:lnTo>
                  <a:pt x="862843" y="0"/>
                </a:lnTo>
                <a:lnTo>
                  <a:pt x="862843" y="862843"/>
                </a:lnTo>
                <a:lnTo>
                  <a:pt x="0" y="8628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86072" y="4177882"/>
            <a:ext cx="325798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5"/>
              </a:lnSpc>
              <a:spcBef>
                <a:spcPct val="0"/>
              </a:spcBef>
            </a:pPr>
            <a:r>
              <a:rPr lang="en-US" b="true" sz="2988">
                <a:solidFill>
                  <a:srgbClr val="07071B"/>
                </a:solidFill>
                <a:latin typeface="Agrandir Bold"/>
                <a:ea typeface="Agrandir Bold"/>
                <a:cs typeface="Agrandir Bold"/>
                <a:sym typeface="Agrandir Bold"/>
              </a:rPr>
              <a:t>Class B</a:t>
            </a:r>
            <a:r>
              <a:rPr lang="en-US" b="true" sz="2988">
                <a:solidFill>
                  <a:srgbClr val="07071B"/>
                </a:solidFill>
                <a:latin typeface="Agrandir Bold"/>
                <a:ea typeface="Agrandir Bold"/>
                <a:cs typeface="Agrandir Bold"/>
                <a:sym typeface="Agrandir Bold"/>
              </a:rPr>
              <a:t>alancing with SMOTE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49105" y="2385600"/>
            <a:ext cx="3847258" cy="5723383"/>
            <a:chOff x="0" y="0"/>
            <a:chExt cx="718977" cy="10695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8977" cy="1069588"/>
            </a:xfrm>
            <a:custGeom>
              <a:avLst/>
              <a:gdLst/>
              <a:ahLst/>
              <a:cxnLst/>
              <a:rect r="r" b="b" t="t" l="l"/>
              <a:pathLst>
                <a:path h="1069588" w="718977">
                  <a:moveTo>
                    <a:pt x="239788" y="19070"/>
                  </a:moveTo>
                  <a:cubicBezTo>
                    <a:pt x="276530" y="7556"/>
                    <a:pt x="318554" y="0"/>
                    <a:pt x="359682" y="0"/>
                  </a:cubicBezTo>
                  <a:cubicBezTo>
                    <a:pt x="400812" y="0"/>
                    <a:pt x="440388" y="6476"/>
                    <a:pt x="476860" y="17990"/>
                  </a:cubicBezTo>
                  <a:cubicBezTo>
                    <a:pt x="477637" y="18350"/>
                    <a:pt x="478413" y="18350"/>
                    <a:pt x="479188" y="18710"/>
                  </a:cubicBezTo>
                  <a:cubicBezTo>
                    <a:pt x="616155" y="64765"/>
                    <a:pt x="717037" y="186379"/>
                    <a:pt x="718977" y="334206"/>
                  </a:cubicBezTo>
                  <a:lnTo>
                    <a:pt x="718977" y="1069588"/>
                  </a:lnTo>
                  <a:lnTo>
                    <a:pt x="0" y="1069588"/>
                  </a:lnTo>
                  <a:lnTo>
                    <a:pt x="0" y="334752"/>
                  </a:lnTo>
                  <a:cubicBezTo>
                    <a:pt x="1940" y="185660"/>
                    <a:pt x="101270" y="64045"/>
                    <a:pt x="239788" y="190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718977" cy="904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648575" y="3020353"/>
            <a:ext cx="848317" cy="862843"/>
          </a:xfrm>
          <a:custGeom>
            <a:avLst/>
            <a:gdLst/>
            <a:ahLst/>
            <a:cxnLst/>
            <a:rect r="r" b="b" t="t" l="l"/>
            <a:pathLst>
              <a:path h="862843" w="848317">
                <a:moveTo>
                  <a:pt x="0" y="0"/>
                </a:moveTo>
                <a:lnTo>
                  <a:pt x="848317" y="0"/>
                </a:lnTo>
                <a:lnTo>
                  <a:pt x="848317" y="862843"/>
                </a:lnTo>
                <a:lnTo>
                  <a:pt x="0" y="8628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43739" y="4177882"/>
            <a:ext cx="325798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5"/>
              </a:lnSpc>
              <a:spcBef>
                <a:spcPct val="0"/>
              </a:spcBef>
            </a:pPr>
            <a:r>
              <a:rPr lang="en-US" b="true" sz="2988">
                <a:solidFill>
                  <a:srgbClr val="07071B"/>
                </a:solidFill>
                <a:latin typeface="Agrandir Bold"/>
                <a:ea typeface="Agrandir Bold"/>
                <a:cs typeface="Agrandir Bold"/>
                <a:sym typeface="Agrandir Bold"/>
              </a:rPr>
              <a:t>Sc</a:t>
            </a:r>
            <a:r>
              <a:rPr lang="en-US" b="true" sz="2988">
                <a:solidFill>
                  <a:srgbClr val="07071B"/>
                </a:solidFill>
                <a:latin typeface="Agrandir Bold"/>
                <a:ea typeface="Agrandir Bold"/>
                <a:cs typeface="Agrandir Bold"/>
                <a:sym typeface="Agrandir Bold"/>
              </a:rPr>
              <a:t>aling &amp; Encoding Pipeline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6572" y="2385600"/>
            <a:ext cx="3847258" cy="5218375"/>
            <a:chOff x="0" y="0"/>
            <a:chExt cx="718977" cy="9752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8977" cy="975212"/>
            </a:xfrm>
            <a:custGeom>
              <a:avLst/>
              <a:gdLst/>
              <a:ahLst/>
              <a:cxnLst/>
              <a:rect r="r" b="b" t="t" l="l"/>
              <a:pathLst>
                <a:path h="975212" w="718977">
                  <a:moveTo>
                    <a:pt x="239788" y="19070"/>
                  </a:moveTo>
                  <a:cubicBezTo>
                    <a:pt x="276530" y="7556"/>
                    <a:pt x="318554" y="0"/>
                    <a:pt x="359682" y="0"/>
                  </a:cubicBezTo>
                  <a:cubicBezTo>
                    <a:pt x="400812" y="0"/>
                    <a:pt x="440388" y="6476"/>
                    <a:pt x="476860" y="17990"/>
                  </a:cubicBezTo>
                  <a:cubicBezTo>
                    <a:pt x="477637" y="18350"/>
                    <a:pt x="478413" y="18350"/>
                    <a:pt x="479188" y="18710"/>
                  </a:cubicBezTo>
                  <a:cubicBezTo>
                    <a:pt x="616155" y="64765"/>
                    <a:pt x="717037" y="186379"/>
                    <a:pt x="718977" y="332110"/>
                  </a:cubicBezTo>
                  <a:lnTo>
                    <a:pt x="718977" y="975212"/>
                  </a:lnTo>
                  <a:lnTo>
                    <a:pt x="0" y="975212"/>
                  </a:lnTo>
                  <a:lnTo>
                    <a:pt x="0" y="332587"/>
                  </a:lnTo>
                  <a:cubicBezTo>
                    <a:pt x="1940" y="185660"/>
                    <a:pt x="101270" y="64045"/>
                    <a:pt x="239788" y="190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65100"/>
              <a:ext cx="718977" cy="810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6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98979" y="3236064"/>
            <a:ext cx="862843" cy="431422"/>
          </a:xfrm>
          <a:custGeom>
            <a:avLst/>
            <a:gdLst/>
            <a:ahLst/>
            <a:cxnLst/>
            <a:rect r="r" b="b" t="t" l="l"/>
            <a:pathLst>
              <a:path h="431422" w="862843">
                <a:moveTo>
                  <a:pt x="0" y="0"/>
                </a:moveTo>
                <a:lnTo>
                  <a:pt x="862843" y="0"/>
                </a:lnTo>
                <a:lnTo>
                  <a:pt x="862843" y="431421"/>
                </a:lnTo>
                <a:lnTo>
                  <a:pt x="0" y="431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01406" y="4075873"/>
            <a:ext cx="325798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5"/>
              </a:lnSpc>
              <a:spcBef>
                <a:spcPct val="0"/>
              </a:spcBef>
            </a:pPr>
            <a:r>
              <a:rPr lang="en-US" b="true" sz="2988">
                <a:solidFill>
                  <a:srgbClr val="07071B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Train-Test Sp</a:t>
            </a:r>
            <a:r>
              <a:rPr lang="en-US" b="true" sz="2988">
                <a:solidFill>
                  <a:srgbClr val="07071B"/>
                </a:solidFill>
                <a:latin typeface="Agrandir Bold"/>
                <a:ea typeface="Agrandir Bold"/>
                <a:cs typeface="Agrandir Bold"/>
                <a:sym typeface="Agrandir Bold"/>
              </a:rPr>
              <a:t>lit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1906" y="4644934"/>
            <a:ext cx="2876989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0"/>
              </a:lnSpc>
              <a:spcBef>
                <a:spcPct val="0"/>
              </a:spcBef>
            </a:pPr>
            <a:r>
              <a:rPr lang="en-US" b="true" sz="209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</a:t>
            </a:r>
            <a:r>
              <a:rPr lang="en-US" b="true" sz="209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ata was split into 80% training and 20% testing sets, ensuring that the fatal and non-fatal classes are proportionally represented in both sets.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28805" y="4169419"/>
            <a:ext cx="3257989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5"/>
              </a:lnSpc>
              <a:spcBef>
                <a:spcPct val="0"/>
              </a:spcBef>
            </a:pPr>
            <a:r>
              <a:rPr lang="en-US" b="true" sz="2988">
                <a:solidFill>
                  <a:srgbClr val="07071B"/>
                </a:solidFill>
                <a:latin typeface="Agrandir Bold"/>
                <a:ea typeface="Agrandir Bold"/>
                <a:cs typeface="Agrandir Bold"/>
                <a:sym typeface="Agrandir Bold"/>
              </a:rPr>
              <a:t>Hyperparameter Tuning (GridSearchCV)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64815" y="5764938"/>
            <a:ext cx="2585969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0"/>
              </a:lnSpc>
            </a:pPr>
            <a:r>
              <a:rPr lang="en-US" b="true" sz="209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grid search was performed over a range of hyperparameters to find the optimal settings for each model based on F1-score performance.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930609" y="3020353"/>
            <a:ext cx="854381" cy="85438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849982" y="5237013"/>
            <a:ext cx="2775389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0"/>
              </a:lnSpc>
              <a:spcBef>
                <a:spcPct val="0"/>
              </a:spcBef>
            </a:pPr>
            <a:r>
              <a:rPr lang="en-US" b="true" sz="209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Synth</a:t>
            </a:r>
            <a:r>
              <a:rPr lang="en-US" b="true" sz="209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etic Minority Over-sampling Technique (SMOTE) was used to balance the dataset by generating synthetic examples of the minority (fatal) class.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40821" y="5394175"/>
            <a:ext cx="3933132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0"/>
              </a:lnSpc>
              <a:spcBef>
                <a:spcPct val="0"/>
              </a:spcBef>
            </a:pPr>
            <a:r>
              <a:rPr lang="en-US" b="true" sz="209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Num</a:t>
            </a:r>
            <a:r>
              <a:rPr lang="en-US" b="true" sz="2091">
                <a:solidFill>
                  <a:srgbClr val="07071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erical features were standardized using StandardScaler, and categorical variables were encoded using one-hot encoding for compatibility with ML algorithms.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87076" y="819150"/>
            <a:ext cx="10513849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80"/>
              </a:lnSpc>
            </a:pPr>
            <a:r>
              <a:rPr lang="en-US" b="true" sz="74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 Building Pipeline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D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10625" y="7369387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27183" y="3009900"/>
            <a:ext cx="8845712" cy="6730502"/>
          </a:xfrm>
          <a:custGeom>
            <a:avLst/>
            <a:gdLst/>
            <a:ahLst/>
            <a:cxnLst/>
            <a:rect r="r" b="b" t="t" l="l"/>
            <a:pathLst>
              <a:path h="6730502" w="8845712">
                <a:moveTo>
                  <a:pt x="0" y="0"/>
                </a:moveTo>
                <a:lnTo>
                  <a:pt x="8845712" y="0"/>
                </a:lnTo>
                <a:lnTo>
                  <a:pt x="8845712" y="6730502"/>
                </a:lnTo>
                <a:lnTo>
                  <a:pt x="0" y="6730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217" r="0" b="-78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3867" y="3727386"/>
            <a:ext cx="7173316" cy="4993191"/>
          </a:xfrm>
          <a:custGeom>
            <a:avLst/>
            <a:gdLst/>
            <a:ahLst/>
            <a:cxnLst/>
            <a:rect r="r" b="b" t="t" l="l"/>
            <a:pathLst>
              <a:path h="4993191" w="7173316">
                <a:moveTo>
                  <a:pt x="0" y="0"/>
                </a:moveTo>
                <a:lnTo>
                  <a:pt x="7173316" y="0"/>
                </a:lnTo>
                <a:lnTo>
                  <a:pt x="7173316" y="4993191"/>
                </a:lnTo>
                <a:lnTo>
                  <a:pt x="0" y="4993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34893" y="838200"/>
            <a:ext cx="14218214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</a:pP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M</a:t>
            </a: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achine Learning Modeling Framework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D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66405" y="713943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82333" y="-631918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08976" y="3020847"/>
            <a:ext cx="12463797" cy="1956943"/>
          </a:xfrm>
          <a:custGeom>
            <a:avLst/>
            <a:gdLst/>
            <a:ahLst/>
            <a:cxnLst/>
            <a:rect r="r" b="b" t="t" l="l"/>
            <a:pathLst>
              <a:path h="1956943" w="12463797">
                <a:moveTo>
                  <a:pt x="0" y="0"/>
                </a:moveTo>
                <a:lnTo>
                  <a:pt x="12463796" y="0"/>
                </a:lnTo>
                <a:lnTo>
                  <a:pt x="12463796" y="1956943"/>
                </a:lnTo>
                <a:lnTo>
                  <a:pt x="0" y="1956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68" t="-24406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10237" y="7376521"/>
            <a:ext cx="12362535" cy="2109700"/>
          </a:xfrm>
          <a:custGeom>
            <a:avLst/>
            <a:gdLst/>
            <a:ahLst/>
            <a:cxnLst/>
            <a:rect r="r" b="b" t="t" l="l"/>
            <a:pathLst>
              <a:path h="2109700" w="12362535">
                <a:moveTo>
                  <a:pt x="0" y="0"/>
                </a:moveTo>
                <a:lnTo>
                  <a:pt x="12362535" y="0"/>
                </a:lnTo>
                <a:lnTo>
                  <a:pt x="12362535" y="2109700"/>
                </a:lnTo>
                <a:lnTo>
                  <a:pt x="0" y="2109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10237" y="6492265"/>
            <a:ext cx="12351246" cy="760431"/>
          </a:xfrm>
          <a:custGeom>
            <a:avLst/>
            <a:gdLst/>
            <a:ahLst/>
            <a:cxnLst/>
            <a:rect r="r" b="b" t="t" l="l"/>
            <a:pathLst>
              <a:path h="760431" w="12351246">
                <a:moveTo>
                  <a:pt x="0" y="0"/>
                </a:moveTo>
                <a:lnTo>
                  <a:pt x="12351247" y="0"/>
                </a:lnTo>
                <a:lnTo>
                  <a:pt x="12351247" y="760431"/>
                </a:lnTo>
                <a:lnTo>
                  <a:pt x="0" y="7604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38200"/>
            <a:ext cx="16119225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B</a:t>
            </a: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aseline Model Results (Before Tuning)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4388" y="5187340"/>
            <a:ext cx="16119225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B</a:t>
            </a:r>
            <a:r>
              <a:rPr lang="en-US" b="true" sz="65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aseline Model Results (After Tuning)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308976" y="2139858"/>
            <a:ext cx="12463797" cy="760431"/>
          </a:xfrm>
          <a:custGeom>
            <a:avLst/>
            <a:gdLst/>
            <a:ahLst/>
            <a:cxnLst/>
            <a:rect r="r" b="b" t="t" l="l"/>
            <a:pathLst>
              <a:path h="760431" w="12463797">
                <a:moveTo>
                  <a:pt x="0" y="0"/>
                </a:moveTo>
                <a:lnTo>
                  <a:pt x="12463796" y="0"/>
                </a:lnTo>
                <a:lnTo>
                  <a:pt x="12463796" y="760431"/>
                </a:lnTo>
                <a:lnTo>
                  <a:pt x="0" y="7604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5" r="0" b="-455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66405" y="713943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0924" y="-6373381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420929" y="2903731"/>
          <a:ext cx="17446142" cy="6354569"/>
        </p:xfrm>
        <a:graphic>
          <a:graphicData uri="http://schemas.openxmlformats.org/drawingml/2006/table">
            <a:tbl>
              <a:tblPr/>
              <a:tblGrid>
                <a:gridCol w="2176235"/>
                <a:gridCol w="2672264"/>
                <a:gridCol w="2489517"/>
                <a:gridCol w="2463410"/>
                <a:gridCol w="2463410"/>
                <a:gridCol w="2463410"/>
                <a:gridCol w="2717897"/>
              </a:tblGrid>
              <a:tr h="12140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D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D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D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D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D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D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Verdict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D3D"/>
                    </a:solidFill>
                  </a:tcPr>
                </a:tc>
              </a:tr>
              <a:tr h="1477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59.6%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0.26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62.4%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0.37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0.65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High recall, low F1.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</a:tr>
              <a:tr h="18316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Decision Tree (Tuned)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74.5%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0.33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32.3%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0.32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0.65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Balanced but recall moderate.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</a:tr>
              <a:tr h="18316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Random Forest (Tuned)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76.6%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220"/>
                        </a:lnSpc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0.30</a:t>
                      </a:r>
                    </a:p>
                    <a:p>
                      <a:pPr algn="ctr">
                        <a:lnSpc>
                          <a:spcPts val="32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220"/>
                        </a:lnSpc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15.8%</a:t>
                      </a:r>
                    </a:p>
                    <a:p>
                      <a:pPr algn="ctr">
                        <a:lnSpc>
                          <a:spcPts val="32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0.20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220"/>
                        </a:lnSpc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0.63</a:t>
                      </a:r>
                    </a:p>
                    <a:p>
                      <a:pPr algn="ctr">
                        <a:lnSpc>
                          <a:spcPts val="32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1F0FC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High accuracy, but terrible recall.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393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059311" y="977496"/>
            <a:ext cx="12169378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80"/>
              </a:lnSpc>
              <a:spcBef>
                <a:spcPct val="0"/>
              </a:spcBef>
            </a:pPr>
            <a:r>
              <a:rPr lang="en-US" b="true" sz="74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 Comparison Table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33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66405" y="7139434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0924" y="-6373381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72533" y="4812556"/>
            <a:ext cx="9131158" cy="5134041"/>
          </a:xfrm>
          <a:custGeom>
            <a:avLst/>
            <a:gdLst/>
            <a:ahLst/>
            <a:cxnLst/>
            <a:rect r="r" b="b" t="t" l="l"/>
            <a:pathLst>
              <a:path h="5134041" w="9131158">
                <a:moveTo>
                  <a:pt x="0" y="0"/>
                </a:moveTo>
                <a:lnTo>
                  <a:pt x="9131158" y="0"/>
                </a:lnTo>
                <a:lnTo>
                  <a:pt x="9131158" y="5134041"/>
                </a:lnTo>
                <a:lnTo>
                  <a:pt x="0" y="5134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183" r="0" b="-1208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72533" y="364663"/>
            <a:ext cx="9131158" cy="4447894"/>
          </a:xfrm>
          <a:custGeom>
            <a:avLst/>
            <a:gdLst/>
            <a:ahLst/>
            <a:cxnLst/>
            <a:rect r="r" b="b" t="t" l="l"/>
            <a:pathLst>
              <a:path h="4447894" w="9131158">
                <a:moveTo>
                  <a:pt x="0" y="0"/>
                </a:moveTo>
                <a:lnTo>
                  <a:pt x="9131158" y="0"/>
                </a:lnTo>
                <a:lnTo>
                  <a:pt x="9131158" y="4447893"/>
                </a:lnTo>
                <a:lnTo>
                  <a:pt x="0" y="4447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19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8220" y="292501"/>
            <a:ext cx="7114833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80"/>
              </a:lnSpc>
            </a:pPr>
            <a:r>
              <a:rPr lang="en-US" b="true" sz="7400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Feature Importance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8220" y="2827470"/>
            <a:ext cx="7451048" cy="705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b="true" sz="246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Hour of Incident: Time of the day significantly impacts fatality rates — incidents occurring during late-night or early-morning hours are more likely to be fatal.</a:t>
            </a:r>
          </a:p>
          <a:p>
            <a:pPr algn="l">
              <a:lnSpc>
                <a:spcPts val="2953"/>
              </a:lnSpc>
            </a:pPr>
          </a:p>
          <a:p>
            <a:pPr algn="l">
              <a:lnSpc>
                <a:spcPts val="2953"/>
              </a:lnSpc>
            </a:pPr>
            <a:r>
              <a:rPr lang="en-US" b="true" sz="246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Region_ID (Location): Geo-clustered regions show that certain hotspots (urban pockets) consistently record higher fatality rates, likely due to socio-economic or gang-related factors.</a:t>
            </a:r>
          </a:p>
          <a:p>
            <a:pPr algn="l">
              <a:lnSpc>
                <a:spcPts val="2953"/>
              </a:lnSpc>
            </a:pPr>
          </a:p>
          <a:p>
            <a:pPr algn="l">
              <a:lnSpc>
                <a:spcPts val="2953"/>
              </a:lnSpc>
            </a:pPr>
            <a:r>
              <a:rPr lang="en-US" b="true" sz="246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Victim/Perpetrator Demographics: Attributes such as race, age group, and gender of both parties show strong association with fatal outcomes, as validated by chi-square tests.</a:t>
            </a:r>
          </a:p>
          <a:p>
            <a:pPr algn="l">
              <a:lnSpc>
                <a:spcPts val="2953"/>
              </a:lnSpc>
            </a:pPr>
          </a:p>
          <a:p>
            <a:pPr algn="l">
              <a:lnSpc>
                <a:spcPts val="2953"/>
              </a:lnSpc>
            </a:pPr>
            <a:r>
              <a:rPr lang="en-US" b="true" sz="246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Seasonality: Fatal incidents vary by season — higher activity in summer and early fall, indicating environmental or behavioral triggers.</a:t>
            </a:r>
          </a:p>
          <a:p>
            <a:pPr algn="l" marL="0" indent="0" lvl="0">
              <a:lnSpc>
                <a:spcPts val="2953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57617" y="-4532822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2869" y="1388861"/>
            <a:ext cx="3711934" cy="9404027"/>
          </a:xfrm>
          <a:custGeom>
            <a:avLst/>
            <a:gdLst/>
            <a:ahLst/>
            <a:cxnLst/>
            <a:rect r="r" b="b" t="t" l="l"/>
            <a:pathLst>
              <a:path h="9404027" w="3711934">
                <a:moveTo>
                  <a:pt x="0" y="0"/>
                </a:moveTo>
                <a:lnTo>
                  <a:pt x="3711934" y="0"/>
                </a:lnTo>
                <a:lnTo>
                  <a:pt x="3711934" y="9404027"/>
                </a:lnTo>
                <a:lnTo>
                  <a:pt x="0" y="9404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531" r="-16641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11850" y="2723191"/>
            <a:ext cx="4603314" cy="7158192"/>
          </a:xfrm>
          <a:custGeom>
            <a:avLst/>
            <a:gdLst/>
            <a:ahLst/>
            <a:cxnLst/>
            <a:rect r="r" b="b" t="t" l="l"/>
            <a:pathLst>
              <a:path h="7158192" w="4603314">
                <a:moveTo>
                  <a:pt x="0" y="0"/>
                </a:moveTo>
                <a:lnTo>
                  <a:pt x="4603315" y="0"/>
                </a:lnTo>
                <a:lnTo>
                  <a:pt x="4603315" y="7158193"/>
                </a:lnTo>
                <a:lnTo>
                  <a:pt x="0" y="7158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9468" t="-29990" r="0" b="-4321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10308" y="2404656"/>
            <a:ext cx="108448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Us</a:t>
            </a: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 the Logistic Regression model for high recall and quick risk flagging, or Decision Tree for interpretable, balanced decision-making during live incident analysis.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50589" y="19578"/>
            <a:ext cx="12908711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6496" b="true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 Business Recommendations </a:t>
            </a:r>
          </a:p>
          <a:p>
            <a:pPr algn="ctr" marL="0" indent="0" lvl="0">
              <a:lnSpc>
                <a:spcPts val="7796"/>
              </a:lnSpc>
              <a:spcBef>
                <a:spcPct val="0"/>
              </a:spcBef>
            </a:pPr>
            <a:r>
              <a:rPr lang="en-US" b="true" sz="6496">
                <a:solidFill>
                  <a:srgbClr val="F1F0FC"/>
                </a:solidFill>
                <a:latin typeface="Agrandir Bold"/>
                <a:ea typeface="Agrandir Bold"/>
                <a:cs typeface="Agrandir Bold"/>
                <a:sym typeface="Agrandir Bold"/>
              </a:rPr>
              <a:t>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10308" y="4423956"/>
            <a:ext cx="108448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Focus law</a:t>
            </a: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enforcement presence during late-night hours and in geo-clustered high-risk areas identified by the model to proactively reduce fatality rates.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10308" y="6443256"/>
            <a:ext cx="108448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</a:t>
            </a: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everage insights on victim and perpetrator demographics to develop targeted outreach, education, and intervention programs in vulnerable communities.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10308" y="8462556"/>
            <a:ext cx="1084482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</a:t>
            </a:r>
            <a:r>
              <a:rPr lang="en-US" b="true" sz="3000">
                <a:solidFill>
                  <a:srgbClr val="F1F0FC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intain model accuracy and relevance by retraining with updated incident data every quarter, reflecting evolving crime patterns and ensuring adaptability.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00439" y="3591717"/>
            <a:ext cx="8192276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99"/>
              </a:lnSpc>
            </a:pPr>
            <a:r>
              <a:rPr lang="en-US" b="true" sz="9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00439" y="6368258"/>
            <a:ext cx="819227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E-MAIL: uraj757@gmail.com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00439" y="5448300"/>
            <a:ext cx="819227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UTKARSH RAJ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4893418" y="-220132"/>
            <a:ext cx="12387786" cy="10727265"/>
            <a:chOff x="0" y="0"/>
            <a:chExt cx="4282440" cy="370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0" t="0" r="-54134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560626" y="3945889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655271" y="7237661"/>
            <a:ext cx="4851640" cy="2425820"/>
            <a:chOff x="0" y="0"/>
            <a:chExt cx="1806222" cy="9031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06222" cy="903111"/>
            </a:xfrm>
            <a:custGeom>
              <a:avLst/>
              <a:gdLst/>
              <a:ahLst/>
              <a:cxnLst/>
              <a:rect r="r" b="b" t="t" l="l"/>
              <a:pathLst>
                <a:path h="903111" w="1806222">
                  <a:moveTo>
                    <a:pt x="0" y="0"/>
                  </a:moveTo>
                  <a:lnTo>
                    <a:pt x="1806222" y="0"/>
                  </a:lnTo>
                  <a:lnTo>
                    <a:pt x="1806222" y="903111"/>
                  </a:lnTo>
                  <a:lnTo>
                    <a:pt x="0" y="903111"/>
                  </a:lnTo>
                  <a:close/>
                </a:path>
              </a:pathLst>
            </a:custGeom>
            <a:solidFill>
              <a:srgbClr val="F26D3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1806222" cy="865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70290" y="7237661"/>
            <a:ext cx="2384981" cy="2425820"/>
          </a:xfrm>
          <a:custGeom>
            <a:avLst/>
            <a:gdLst/>
            <a:ahLst/>
            <a:cxnLst/>
            <a:rect r="r" b="b" t="t" l="l"/>
            <a:pathLst>
              <a:path h="2425820" w="2384981">
                <a:moveTo>
                  <a:pt x="0" y="0"/>
                </a:moveTo>
                <a:lnTo>
                  <a:pt x="2384981" y="0"/>
                </a:lnTo>
                <a:lnTo>
                  <a:pt x="2384981" y="2425820"/>
                </a:lnTo>
                <a:lnTo>
                  <a:pt x="0" y="24258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869660" y="8026230"/>
            <a:ext cx="848682" cy="8486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C339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90500" y="161925"/>
              <a:ext cx="431800" cy="460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1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868181" y="-4953507"/>
            <a:ext cx="9466750" cy="9466750"/>
          </a:xfrm>
          <a:custGeom>
            <a:avLst/>
            <a:gdLst/>
            <a:ahLst/>
            <a:cxnLst/>
            <a:rect r="r" b="b" t="t" l="l"/>
            <a:pathLst>
              <a:path h="9466750" w="9466750">
                <a:moveTo>
                  <a:pt x="0" y="0"/>
                </a:moveTo>
                <a:lnTo>
                  <a:pt x="9466750" y="0"/>
                </a:lnTo>
                <a:lnTo>
                  <a:pt x="9466750" y="9466750"/>
                </a:lnTo>
                <a:lnTo>
                  <a:pt x="0" y="9466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Classifying Shooting Incident  
Fatality Insights</dc:description>
  <dc:identifier>DAGt1wi6zK4</dc:identifier>
  <dcterms:modified xsi:type="dcterms:W3CDTF">2011-08-01T06:04:30Z</dcterms:modified>
  <cp:revision>1</cp:revision>
  <dc:title>Presentation - Classifying Shooting Incident  
Fatality Insights</dc:title>
</cp:coreProperties>
</file>